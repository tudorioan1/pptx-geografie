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org&amp;utm_campaign=parser&amp;utm_content=thumbnai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57" r:id="rId4"/>
    <p:sldId id="259" r:id="rId5"/>
    <p:sldId id="270" r:id="rId6"/>
    <p:sldId id="260" r:id="rId7"/>
    <p:sldId id="272" r:id="rId8"/>
    <p:sldId id="261" r:id="rId9"/>
    <p:sldId id="262" r:id="rId10"/>
    <p:sldId id="271" r:id="rId11"/>
    <p:sldId id="264" r:id="rId12"/>
    <p:sldId id="265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90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94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8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3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7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47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003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45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9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08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656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65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7491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36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545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512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807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37867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6022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279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941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53917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2563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669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089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045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53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ACA2-6A17-14A4-95FD-D39D55129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DDABA-2F20-BA8E-98AF-AFD903F47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5AFD7-4791-42D5-14BF-BCF78DA2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EB321-C1A8-7F95-EBB6-3591B75C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F052-2D19-4EED-7F0E-B2271B89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5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263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org&amp;utm_campaign=parser&amp;utm_content=thumbnai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1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ravelminit.ro/locuri-impresionante-de-vazut-in-carpatii-meridionali/?utm_source=gemini" TargetMode="External"/><Relationship Id="rId2" Type="http://schemas.openxmlformats.org/officeDocument/2006/relationships/hyperlink" Target="https://www.tourismguide.ro/x/carpatii_meridionali/?utm_source=gemini" TargetMode="External"/><Relationship Id="rId1" Type="http://schemas.openxmlformats.org/officeDocument/2006/relationships/slideLayout" Target="../slideLayouts/slideLayout28.xml"/><Relationship Id="rId5" Type="http://schemas.openxmlformats.org/officeDocument/2006/relationships/hyperlink" Target="https://ro.wikipedia.org/wiki/Carpa%C8%9Bii_Meridionali" TargetMode="External"/><Relationship Id="rId4" Type="http://schemas.openxmlformats.org/officeDocument/2006/relationships/hyperlink" Target="https://adevarul.ro/stiri-locale/brasov/cele-mai-frumoase-locuri-din-carpatii-meridionali-1642815.html?utm_source=gemin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829B4-78D6-CE53-215F-2015A52D7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470" y="433647"/>
            <a:ext cx="7699427" cy="1715105"/>
          </a:xfrm>
        </p:spPr>
        <p:txBody>
          <a:bodyPr>
            <a:normAutofit/>
          </a:bodyPr>
          <a:lstStyle/>
          <a:p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</a:t>
            </a:r>
            <a:r>
              <a:rPr lang="ro-RO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țialul turistic al </a:t>
            </a:r>
            <a:br>
              <a:rPr lang="ro-RO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Carpaților Meridionali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FE86C1-53E8-8CDC-4D7F-F9D8198044A1}"/>
              </a:ext>
            </a:extLst>
          </p:cNvPr>
          <p:cNvSpPr/>
          <p:nvPr/>
        </p:nvSpPr>
        <p:spPr>
          <a:xfrm>
            <a:off x="8365401" y="5638105"/>
            <a:ext cx="3891668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o-RO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Vacaru Tudor – Ioan</a:t>
            </a:r>
          </a:p>
          <a:p>
            <a:pPr algn="ctr"/>
            <a:r>
              <a:rPr lang="ro-RO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Clasa a VIII - a C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35191-4C5E-0618-3286-F1E51DDDFC09}"/>
              </a:ext>
            </a:extLst>
          </p:cNvPr>
          <p:cNvSpPr txBox="1"/>
          <p:nvPr/>
        </p:nvSpPr>
        <p:spPr>
          <a:xfrm>
            <a:off x="2431088" y="2023550"/>
            <a:ext cx="6907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 la </a:t>
            </a:r>
            <a:r>
              <a:rPr lang="en-US" b="1" dirty="0" err="1"/>
              <a:t>vârfurile</a:t>
            </a:r>
            <a:r>
              <a:rPr lang="en-US" b="1" dirty="0"/>
              <a:t> </a:t>
            </a:r>
            <a:r>
              <a:rPr lang="en-US" b="1" dirty="0" err="1"/>
              <a:t>înghețate</a:t>
            </a:r>
            <a:r>
              <a:rPr lang="en-US" b="1" dirty="0"/>
              <a:t> la </a:t>
            </a:r>
            <a:r>
              <a:rPr lang="en-US" b="1" dirty="0" err="1"/>
              <a:t>drumurile</a:t>
            </a:r>
            <a:r>
              <a:rPr lang="en-US" b="1" dirty="0"/>
              <a:t> </a:t>
            </a:r>
            <a:r>
              <a:rPr lang="en-US" b="1" dirty="0" err="1"/>
              <a:t>dintre</a:t>
            </a:r>
            <a:r>
              <a:rPr lang="en-US" b="1" dirty="0"/>
              <a:t> nori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legende</a:t>
            </a:r>
            <a:r>
              <a:rPr lang="en-US" b="1" dirty="0"/>
              <a:t> </a:t>
            </a:r>
            <a:r>
              <a:rPr lang="en-US" b="1" dirty="0" err="1"/>
              <a:t>străvechi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55572-354F-A0B5-A47C-3067D7D6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596" y="2561848"/>
            <a:ext cx="5253174" cy="315399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493644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5202-55D6-D8B3-37F7-747B30EF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/>
          <a:p>
            <a:r>
              <a:rPr lang="ro-RO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Cuprins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A6A8A-C8BB-0628-1C30-C459C60C21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939" y="3429000"/>
            <a:ext cx="3595171" cy="282858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Introducere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Munții Bucegi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Munții Făgăraș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Transfăgărășanul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Munții Parâng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Transalpina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„Drumul regelui”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Munții Retezat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254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4586-040E-2F80-4348-D1517C89C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279" y="877920"/>
            <a:ext cx="9144000" cy="1077629"/>
          </a:xfrm>
        </p:spPr>
        <p:txBody>
          <a:bodyPr>
            <a:normAutofit/>
          </a:bodyPr>
          <a:lstStyle/>
          <a:p>
            <a:pPr algn="l"/>
            <a:r>
              <a:rPr lang="ro-RO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Introducere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73758-B3C2-F529-926A-20F7AFF62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67" y="2316445"/>
            <a:ext cx="11847969" cy="3894231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reprezintă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spectaculoasă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regiune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montană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țării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Așezare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desfășoară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între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Valea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Prahovei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(est)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Culoarul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Timiș-Cerna (vest).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„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Alpii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Transilvaniei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Denumiți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geograful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Emmanuel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Martonne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datorită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masivității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reliefului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crestat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muntoasă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dominând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regiunile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vecine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diferențe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nivel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1.000 m.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Subdiviziuni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montane: Bucegi,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Făgăraș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Parâng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Retezat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246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B8B3-ACBA-90BA-69B0-CC6072FF2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 –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Sfinxul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Babele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53B615-F200-DBEC-852D-E366361B4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algn="l"/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Locație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Platoul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Bucegilor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situat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o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2.000 de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Atracții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principale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Sfinxul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Babele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sunt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monumente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piatră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naturii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vânt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ploi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</a:p>
          <a:p>
            <a:pPr lvl="0" algn="l"/>
            <a:r>
              <a:rPr lang="ro-RO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jurul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acestor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relief s-au 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numeroase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legend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 urbane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unele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susținând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că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fost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construite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extratereștri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r>
              <a:rPr lang="ro-RO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ajunge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telecabina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Bușteni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la pas pe un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pitoresc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o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oră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mașina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drumul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Transbucegi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</a:p>
          <a:p>
            <a:pPr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055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116D-9843-0F05-1832-173C259E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4CCF616-F2D7-DBB5-68B4-BD0E9064C2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33" t="2" r="11008"/>
          <a:stretch>
            <a:fillRect/>
          </a:stretch>
        </p:blipFill>
        <p:spPr>
          <a:xfrm>
            <a:off x="6014519" y="1879002"/>
            <a:ext cx="5524744" cy="45862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 descr="The Sfinx – Bucegi Mountains, Romania | Bored Panda">
            <a:extLst>
              <a:ext uri="{FF2B5EF4-FFF2-40B4-BE49-F238E27FC236}">
                <a16:creationId xmlns:a16="http://schemas.microsoft.com/office/drawing/2014/main" id="{6A52B35D-F312-AD2A-290B-DF654C5E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3" r="6449" b="2"/>
          <a:stretch>
            <a:fillRect/>
          </a:stretch>
        </p:blipFill>
        <p:spPr>
          <a:xfrm>
            <a:off x="652737" y="1879002"/>
            <a:ext cx="4991100" cy="4586288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F565F97-5067-AA80-8B0D-AAE367CF4E39}"/>
              </a:ext>
            </a:extLst>
          </p:cNvPr>
          <p:cNvSpPr txBox="1">
            <a:spLocks/>
          </p:cNvSpPr>
          <p:nvPr/>
        </p:nvSpPr>
        <p:spPr>
          <a:xfrm>
            <a:off x="283675" y="912137"/>
            <a:ext cx="11123691" cy="6880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 –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Sfinxul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Babele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8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4D3C-A932-8973-4EE6-5D4AE50D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9989-305F-1871-BF1F-E297B636F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 – </a:t>
            </a:r>
            <a:r>
              <a:rPr lang="ro-RO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Recorduri și istorie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BF036-2E8F-36DA-D7C7-4C8F7441F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5" y="1881879"/>
            <a:ext cx="11123690" cy="406398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Crucea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Eroilor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pe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Muntele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Caraiman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Construită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între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1926-1928,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memoria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ostașilor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căzuți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Război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Mondial ;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construcție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100%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românească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intrată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Cartea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Recordurilor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drept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cruce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lume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(~ 40 m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înălțime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;</a:t>
            </a:r>
            <a:endParaRPr lang="ro-RO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endParaRPr lang="ro-RO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Vârful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Omu (2.505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Cel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găsește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cabană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turistică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primitoare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(Cabana Caraiman)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cu 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istorie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100 de ani ;</a:t>
            </a:r>
          </a:p>
        </p:txBody>
      </p:sp>
    </p:spTree>
    <p:extLst>
      <p:ext uri="{BB962C8B-B14F-4D97-AF65-F5344CB8AC3E}">
        <p14:creationId xmlns:p14="http://schemas.microsoft.com/office/powerpoint/2010/main" val="650096578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19FD-2CBE-3B4D-BF71-6E5FE6CD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5D1F-038E-B6D5-F128-473085C23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 – </a:t>
            </a:r>
            <a:r>
              <a:rPr lang="ro-RO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Recorduri și istorie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1E79F-9E6B-BB31-181D-9E56375B5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091" y="1801592"/>
            <a:ext cx="2691899" cy="358560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F8F8B0-FC95-8198-4259-8BEF2EA5B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26" r="6038"/>
          <a:stretch>
            <a:fillRect/>
          </a:stretch>
        </p:blipFill>
        <p:spPr>
          <a:xfrm>
            <a:off x="651849" y="1801592"/>
            <a:ext cx="7704500" cy="360089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44E120-31BE-80D3-6F2B-87F511167728}"/>
              </a:ext>
            </a:extLst>
          </p:cNvPr>
          <p:cNvSpPr/>
          <p:nvPr/>
        </p:nvSpPr>
        <p:spPr>
          <a:xfrm>
            <a:off x="3256350" y="5463827"/>
            <a:ext cx="25891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Cabana Caraiman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41E545-B61E-80D7-B3D9-A63D74AFB191}"/>
              </a:ext>
            </a:extLst>
          </p:cNvPr>
          <p:cNvSpPr/>
          <p:nvPr/>
        </p:nvSpPr>
        <p:spPr>
          <a:xfrm>
            <a:off x="9304215" y="5484198"/>
            <a:ext cx="207268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Crucea Eroilor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6319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F242-BC7B-AC82-A10A-1DE1FC46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65FA-2A4D-D136-768A-DCA012CD7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Făgăra</a:t>
            </a:r>
            <a:r>
              <a:rPr lang="ro-RO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F03FC-C4BC-F995-F069-F4804E4A7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Formează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creastă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montană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~ 70 km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lungime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~ 45 km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lățime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vârfuri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Găzduiește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cotele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țară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Moldoveanu (2.544 m)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Negoiu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(2.535 m).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Turism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Renumit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drumețiile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peisajele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lacurile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alpine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Bâlea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Podragu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61027857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D742F-2BF1-F563-1A0C-EE8EA6A3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7A72-269B-FB77-F311-ED16A26D0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Transfăgărășanul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(DN7C)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9342F-A8D7-5EB0-F618-950A470BB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Este o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șosea montană de 91,5 km ce leagă județele Argeș și Sibiu.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Atracții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Bâlea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Lac: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punct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turistic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central pe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Barajul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Vidraru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Construcție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hidrotehnică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arc pe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râul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Argeș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Cetatea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Poenari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Reședință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istorică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fortificată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legată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domnitorul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Vlad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Țepeș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957865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2234E-8E54-0068-874B-1493EE42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85B8-49FE-0567-625F-6F4F315F9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Transfăgărășanul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(DN7C)</a:t>
            </a:r>
          </a:p>
        </p:txBody>
      </p:sp>
      <p:pic>
        <p:nvPicPr>
          <p:cNvPr id="6" name="Picture 5" descr="Bucharest: Transfagarasan Road Private Tour | GetYourGuide">
            <a:extLst>
              <a:ext uri="{FF2B5EF4-FFF2-40B4-BE49-F238E27FC236}">
                <a16:creationId xmlns:a16="http://schemas.microsoft.com/office/drawing/2014/main" id="{1C92CC4B-D370-24A8-401A-9E7D276F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40" y="1876762"/>
            <a:ext cx="8488320" cy="44563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36706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4549-D26F-C29F-4113-29BF31D4E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6861-9562-34F3-6B2A-437744968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Parâng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696D8-FBD5-575A-D774-4CD5E57B4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cea mai întinsă grupă din Carpații Meridionali, având altitudinea maximă în Vf. Parângul Mare (2518 m).</a:t>
            </a:r>
          </a:p>
          <a:p>
            <a:pPr lvl="0" algn="l"/>
            <a:endPara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Obiective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culturale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Relieful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carstic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inclusiv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Peșterile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Polovragi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Muierilor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Cetățile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dacice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Șureanu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special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Sarmizegetusa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Regia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67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505E-DE80-1B7D-6C2C-F8B1F1AC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6DC8-D056-64B5-F147-BDF7C6DAE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Transalpina – „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Drumul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Regelui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B6D79-1384-BEA0-86C7-D96E734C1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5" y="1881879"/>
            <a:ext cx="6808788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Este cea mai înaltă șosea din România (a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tinge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punctul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maxim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Pasul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Urdele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2.145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depășind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Transfăgărășanul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100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Leagă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localitatea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Novaci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Gorj)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municipiul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Sebeș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Alba),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având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distanță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148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kilometri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511ADA-41D3-1E24-6426-DFF5DD971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821" y="1641231"/>
            <a:ext cx="4514850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85363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71C39-9969-7A5B-AE5A-34EC49DF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B2BE-47E3-88DF-C46D-03981E431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Retezat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40 de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lacuri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FB0FB-A24A-35EF-9DFA-D83C1BDAC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Parc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Național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Protejat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1935,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fiind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național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înființat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Zonă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Găzduiește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40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situate la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2.000 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Recorduri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hidrologice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Bucura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(cel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întins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Zănoaga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(cel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adânc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8831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5019-CE1E-0057-4C14-D12ADDB2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47B5-6182-3125-C182-39EB937CF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ro-RO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Concluzie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68ED7-F5B1-8403-A698-7EF04C277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Diversitate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oferă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combinație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unică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relief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peșteri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Șoselele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alpine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Transfăgărășan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Transalpina)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cablu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facilitează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direct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zonele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națională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Regiunea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adun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țară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rezervații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patrimoniu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istoric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valoros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65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4AAD-8C75-672C-2CE6-6E8F0A1B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821E-BFA6-5761-044C-A716578D1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Bibliografie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37A04-E85A-073B-3B5A-2AE13383C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Tourism Guide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România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Turistice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disponibil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tourismguide.ro/x/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carpatii_meridionali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/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Blog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Travelminit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Locuri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impresionante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văzut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disponibil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blog.travelminit.ro/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locuri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impresionante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-de-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vazut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-in-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carpatii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meridionali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/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Adevărul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ediția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locală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Brașov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frumoase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locuri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Vacanță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mare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înălțime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peisaje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vis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mistere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Simona Suciu,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disponibil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adevarul.ro/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stiri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-locale/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brasov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/cele-mai-frumoase-locuri-din-carpatii-meridionali-1642815.html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Wikipedia 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https://ro.wikipedia.org/wiki/Carpa%C8%9Bii_Meridionali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43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162</TotalTime>
  <Words>824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Nova Light</vt:lpstr>
      <vt:lpstr>Tahoma</vt:lpstr>
      <vt:lpstr>Wingdings</vt:lpstr>
      <vt:lpstr>Dark Gradient</vt:lpstr>
      <vt:lpstr>Potențialul turistic al  Carpaților Meridionali</vt:lpstr>
      <vt:lpstr>Cuprins</vt:lpstr>
      <vt:lpstr>Introducere</vt:lpstr>
      <vt:lpstr>Grupa Munților Bucegi – Sfinxul și Babele</vt:lpstr>
      <vt:lpstr>PowerPoint Presentation</vt:lpstr>
      <vt:lpstr>Grupa Munților Bucegi – Recorduri și istorie</vt:lpstr>
      <vt:lpstr>Grupa Munților Bucegi – Recorduri și istorie</vt:lpstr>
      <vt:lpstr>Grupa Munților Făgăraș</vt:lpstr>
      <vt:lpstr>Transfăgărășanul (DN7C)</vt:lpstr>
      <vt:lpstr>Transfăgărășanul (DN7C)</vt:lpstr>
      <vt:lpstr>Grupa Munților Parâng</vt:lpstr>
      <vt:lpstr>Transalpina – „Drumul Regelui”</vt:lpstr>
      <vt:lpstr>Grupa Munților Retezat – Masivul celor 40 de lacuri</vt:lpstr>
      <vt:lpstr>Concluzie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Tudor Ioan</dc:creator>
  <cp:lastModifiedBy>Tudor Ioan</cp:lastModifiedBy>
  <cp:revision>10</cp:revision>
  <dcterms:created xsi:type="dcterms:W3CDTF">2026-09-22T14:17:36Z</dcterms:created>
  <dcterms:modified xsi:type="dcterms:W3CDTF">2026-09-23T16:02:31Z</dcterms:modified>
</cp:coreProperties>
</file>